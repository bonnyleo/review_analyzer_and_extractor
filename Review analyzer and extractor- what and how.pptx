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Average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42" Type="http://schemas.openxmlformats.org/officeDocument/2006/relationships/font" Target="fonts/Lato-regular.fntdata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44" Type="http://schemas.openxmlformats.org/officeDocument/2006/relationships/font" Target="fonts/Lato-italic.fntdata"/><Relationship Id="rId21" Type="http://schemas.openxmlformats.org/officeDocument/2006/relationships/slide" Target="slides/slide16.xml"/><Relationship Id="rId43" Type="http://schemas.openxmlformats.org/officeDocument/2006/relationships/font" Target="fonts/Lato-bold.fntdata"/><Relationship Id="rId24" Type="http://schemas.openxmlformats.org/officeDocument/2006/relationships/slide" Target="slides/slide19.xml"/><Relationship Id="rId46" Type="http://schemas.openxmlformats.org/officeDocument/2006/relationships/font" Target="fonts/Average-regular.fntdata"/><Relationship Id="rId23" Type="http://schemas.openxmlformats.org/officeDocument/2006/relationships/slide" Target="slides/slide18.xml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544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54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544c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544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c4f3d32b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0c4f3d32b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544c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544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4342dcf9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4342dcf9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af142b5bcc582f4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5af142b5bcc582f4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c4f3d32b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c4f3d32b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c9368e2a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c9368e2a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342dcf93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4342dcf93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c9368e2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0c9368e2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342dcf93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342dcf93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4342dcf93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4342dcf93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299a2dcd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299a2dcd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4342dcf93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4342dcf93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4c91ef0e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44c91ef0e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af142b5bcc582f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5af142b5bcc582f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1b73048b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1b73048b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b73048b1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1b73048b1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af142b5bcc582f4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af142b5bcc582f4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3b6a9f2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3b6a9f2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6f9544c1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c6f9544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0c9368e2a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0c9368e2a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99a2dcd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299a2dcd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c6f9544c1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c6f9544c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" name="Google Shape;56;p13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2" name="Google Shape;62;p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3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14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4"/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6" name="Google Shape;76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4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ctrTitle"/>
          </p:nvPr>
        </p:nvSpPr>
        <p:spPr>
          <a:xfrm>
            <a:off x="409825" y="378550"/>
            <a:ext cx="8615100" cy="86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Review Analyzer and Summarizer</a:t>
            </a:r>
            <a:endParaRPr sz="4000"/>
          </a:p>
        </p:txBody>
      </p:sp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B.Tech Final Year Project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374250" y="2990600"/>
            <a:ext cx="32652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Group 7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	</a:t>
            </a:r>
            <a:r>
              <a:rPr lang="en" sz="1600">
                <a:solidFill>
                  <a:schemeClr val="lt1"/>
                </a:solidFill>
              </a:rPr>
              <a:t>MUHAMMED SHAMIL MP</a:t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BONNY B</a:t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ATHUL KRISHNA PA</a:t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MUHAMMED AFLAH K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1297500" y="1132625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TOC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294301" y="2097575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1294301" y="2423076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1294301" y="2748576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System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294301" y="3074077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Diagram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294301" y="3399577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Block Diagram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294298" y="3725075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Timeline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297498" y="4012400"/>
            <a:ext cx="3018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908100" y="1190250"/>
            <a:ext cx="7327800" cy="3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D83829"/>
                </a:solidFill>
              </a:rPr>
              <a:t>Review text</a:t>
            </a:r>
            <a:r>
              <a:rPr lang="en" sz="1600">
                <a:solidFill>
                  <a:srgbClr val="1A1A1A"/>
                </a:solidFill>
              </a:rPr>
              <a:t> by public contains valuable </a:t>
            </a:r>
            <a:r>
              <a:rPr lang="en" sz="1600">
                <a:solidFill>
                  <a:srgbClr val="D83829"/>
                </a:solidFill>
              </a:rPr>
              <a:t>knowledge, opinions, preferences,</a:t>
            </a:r>
            <a:r>
              <a:rPr lang="en" sz="1600">
                <a:solidFill>
                  <a:srgbClr val="1A1A1A"/>
                </a:solidFill>
              </a:rPr>
              <a:t> important for employers to make trading decisions.</a:t>
            </a:r>
            <a:endParaRPr sz="1600">
              <a:solidFill>
                <a:srgbClr val="1A1A1A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A1A1A"/>
                </a:solidFill>
              </a:rPr>
              <a:t>Taking the review text of crowdsourcing participants on the </a:t>
            </a:r>
            <a:r>
              <a:rPr lang="en" sz="1600">
                <a:solidFill>
                  <a:srgbClr val="D83829"/>
                </a:solidFill>
              </a:rPr>
              <a:t>Google Maps,Amazon and other </a:t>
            </a:r>
            <a:r>
              <a:rPr lang="en" sz="1600">
                <a:solidFill>
                  <a:srgbClr val="1A1A1A"/>
                </a:solidFill>
              </a:rPr>
              <a:t>platform as the data set to extract text features.</a:t>
            </a:r>
            <a:endParaRPr sz="1600">
              <a:solidFill>
                <a:srgbClr val="1A1A1A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A1A1A"/>
                </a:solidFill>
              </a:rPr>
              <a:t>The wanted data from this huge stack of data is not often easy to sort.</a:t>
            </a:r>
            <a:endParaRPr sz="1600">
              <a:solidFill>
                <a:srgbClr val="1A1A1A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914400" y="94250"/>
            <a:ext cx="7038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1" sz="36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/>
        </p:nvSpPr>
        <p:spPr>
          <a:xfrm>
            <a:off x="914400" y="942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Objective</a:t>
            </a:r>
            <a:endParaRPr b="1" sz="36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0" y="1195925"/>
            <a:ext cx="45720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It is </a:t>
            </a:r>
            <a:r>
              <a:rPr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impractical</a:t>
            </a:r>
            <a:r>
              <a:rPr lang="en" sz="16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to read all the reviews and analyse.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Introducing a </a:t>
            </a:r>
            <a:r>
              <a:rPr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summarised analysis</a:t>
            </a: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of  all the reviews about any place or products.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●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Large corpus of reviews</a:t>
            </a:r>
            <a:r>
              <a:rPr b="1" lang="en" sz="1600">
                <a:solidFill>
                  <a:srgbClr val="FFB8A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accessible</a:t>
            </a:r>
            <a:r>
              <a:rPr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explorable</a:t>
            </a: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digestible</a:t>
            </a:r>
            <a:r>
              <a:rPr lang="en" sz="1600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for the business as well as non-business purposes can be made.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 rotWithShape="1">
          <a:blip r:embed="rId3">
            <a:alphaModFix/>
          </a:blip>
          <a:srcRect b="-1276" l="0" r="25866" t="0"/>
          <a:stretch/>
        </p:blipFill>
        <p:spPr>
          <a:xfrm>
            <a:off x="4773600" y="763899"/>
            <a:ext cx="4084874" cy="36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445350" y="1455750"/>
            <a:ext cx="37287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77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dk2"/>
                </a:solidFill>
              </a:rPr>
              <a:t>We intend to analyse all the reviews and find the </a:t>
            </a:r>
            <a:r>
              <a:rPr lang="en" sz="1656">
                <a:solidFill>
                  <a:srgbClr val="D83829"/>
                </a:solidFill>
              </a:rPr>
              <a:t>mostly discussed </a:t>
            </a:r>
            <a:r>
              <a:rPr lang="en" sz="1656">
                <a:solidFill>
                  <a:srgbClr val="D83829"/>
                </a:solidFill>
              </a:rPr>
              <a:t>positive</a:t>
            </a:r>
            <a:r>
              <a:rPr lang="en" sz="1656">
                <a:solidFill>
                  <a:srgbClr val="D83829"/>
                </a:solidFill>
              </a:rPr>
              <a:t> and negative qualities</a:t>
            </a:r>
            <a:r>
              <a:rPr lang="en" sz="1656">
                <a:solidFill>
                  <a:schemeClr val="dk2"/>
                </a:solidFill>
              </a:rPr>
              <a:t> about that place or object.</a:t>
            </a:r>
            <a:endParaRPr sz="1656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752425" y="1455750"/>
            <a:ext cx="4114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77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lt1"/>
                </a:solidFill>
              </a:rPr>
              <a:t>Our NLP project will be universal i.e </a:t>
            </a:r>
            <a:r>
              <a:rPr lang="en" sz="1656">
                <a:solidFill>
                  <a:srgbClr val="FFFF00"/>
                </a:solidFill>
              </a:rPr>
              <a:t>all types of reviews</a:t>
            </a:r>
            <a:r>
              <a:rPr lang="en" sz="1656">
                <a:solidFill>
                  <a:schemeClr val="lt1"/>
                </a:solidFill>
              </a:rPr>
              <a:t> (google maps places reviews, amazon reviews, movie reviews etc) can be digested to produce result.</a:t>
            </a:r>
            <a:endParaRPr sz="1656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914400" y="94250"/>
            <a:ext cx="5033400" cy="78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Target audience</a:t>
            </a:r>
            <a:endParaRPr sz="3600"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914400" y="1267125"/>
            <a:ext cx="48678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Local </a:t>
            </a:r>
            <a:r>
              <a:rPr lang="en" sz="1600">
                <a:solidFill>
                  <a:schemeClr val="accent3"/>
                </a:solidFill>
              </a:rPr>
              <a:t>tourists </a:t>
            </a:r>
            <a:r>
              <a:rPr lang="en" sz="1600">
                <a:solidFill>
                  <a:schemeClr val="dk2"/>
                </a:solidFill>
              </a:rPr>
              <a:t>who plans to know about a place 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People  who wants to </a:t>
            </a:r>
            <a:r>
              <a:rPr lang="en" sz="1600">
                <a:solidFill>
                  <a:schemeClr val="accent3"/>
                </a:solidFill>
              </a:rPr>
              <a:t>gather information</a:t>
            </a:r>
            <a:r>
              <a:rPr lang="en" sz="1600">
                <a:solidFill>
                  <a:schemeClr val="dk2"/>
                </a:solidFill>
              </a:rPr>
              <a:t> about a place or object.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People who needs to </a:t>
            </a:r>
            <a:r>
              <a:rPr lang="en" sz="1600">
                <a:solidFill>
                  <a:schemeClr val="accent3"/>
                </a:solidFill>
              </a:rPr>
              <a:t>choose </a:t>
            </a:r>
            <a:r>
              <a:rPr lang="en" sz="1600">
                <a:solidFill>
                  <a:schemeClr val="dk2"/>
                </a:solidFill>
              </a:rPr>
              <a:t>between places or services or products.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The </a:t>
            </a:r>
            <a:r>
              <a:rPr lang="en" sz="1600">
                <a:solidFill>
                  <a:schemeClr val="accent3"/>
                </a:solidFill>
              </a:rPr>
              <a:t>business owners </a:t>
            </a:r>
            <a:r>
              <a:rPr lang="en" sz="1600">
                <a:solidFill>
                  <a:schemeClr val="dk2"/>
                </a:solidFill>
              </a:rPr>
              <a:t>who wants to evaluate their business.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offset_comp_267026.jpg" id="124" name="Google Shape;124;p20"/>
          <p:cNvPicPr preferRelativeResize="0"/>
          <p:nvPr/>
        </p:nvPicPr>
        <p:blipFill rotWithShape="1">
          <a:blip r:embed="rId3">
            <a:alphaModFix/>
          </a:blip>
          <a:srcRect b="-6208" l="39741" r="17180" t="41471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57517_edited2.jpg" id="125" name="Google Shape;125;p20"/>
          <p:cNvPicPr preferRelativeResize="0"/>
          <p:nvPr/>
        </p:nvPicPr>
        <p:blipFill rotWithShape="1">
          <a:blip r:embed="rId4">
            <a:alphaModFix/>
          </a:blip>
          <a:srcRect b="-10134" l="28500" r="21978" t="35784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offset_comp_442889_edtied2.jpg" id="126" name="Google Shape;126;p20"/>
          <p:cNvPicPr preferRelativeResize="0"/>
          <p:nvPr/>
        </p:nvPicPr>
        <p:blipFill rotWithShape="1">
          <a:blip r:embed="rId5">
            <a:alphaModFix/>
          </a:blip>
          <a:srcRect b="15477" l="23926" r="30743" t="16464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7040600" y="3923575"/>
            <a:ext cx="2106350" cy="1222450"/>
          </a:xfrm>
          <a:custGeom>
            <a:rect b="b" l="l" r="r" t="t"/>
            <a:pathLst>
              <a:path extrusionOk="0" h="48898" w="84254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4767875" y="1455750"/>
            <a:ext cx="4114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77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lt1"/>
                </a:solidFill>
              </a:rPr>
              <a:t>The reviews about that location or item is collected and it is processed.</a:t>
            </a:r>
            <a:endParaRPr sz="1656">
              <a:solidFill>
                <a:schemeClr val="lt1"/>
              </a:solidFill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6">
              <a:solidFill>
                <a:schemeClr val="lt1"/>
              </a:solidFill>
            </a:endParaRPr>
          </a:p>
          <a:p>
            <a:pPr indent="-333772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lt1"/>
                </a:solidFill>
              </a:rPr>
              <a:t>The output is the details and summary of the reviews about that place, specifically </a:t>
            </a:r>
            <a:r>
              <a:rPr lang="en" sz="1656">
                <a:solidFill>
                  <a:srgbClr val="FFFF00"/>
                </a:solidFill>
              </a:rPr>
              <a:t>the best and worst qualities.</a:t>
            </a:r>
            <a:endParaRPr sz="1656">
              <a:solidFill>
                <a:srgbClr val="FFFF00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544325" y="1819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Proposed System</a:t>
            </a:r>
            <a:endParaRPr b="1" sz="36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595275" y="1455750"/>
            <a:ext cx="3728700" cy="19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77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dk2"/>
                </a:solidFill>
              </a:rPr>
              <a:t>The proposed system is a review text analyzer.</a:t>
            </a:r>
            <a:endParaRPr sz="1656">
              <a:solidFill>
                <a:schemeClr val="dk2"/>
              </a:solidFill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56">
              <a:solidFill>
                <a:schemeClr val="dk2"/>
              </a:solidFill>
            </a:endParaRPr>
          </a:p>
          <a:p>
            <a:pPr indent="-333772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56"/>
              <a:buFont typeface="Arial"/>
              <a:buChar char="●"/>
            </a:pPr>
            <a:r>
              <a:rPr lang="en" sz="1656">
                <a:solidFill>
                  <a:schemeClr val="dk2"/>
                </a:solidFill>
              </a:rPr>
              <a:t>The input is dataset of reviews of  a location or item in Google Maps or amazon etc.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11769" l="8860" r="69651" t="23140"/>
          <a:stretch/>
        </p:blipFill>
        <p:spPr>
          <a:xfrm>
            <a:off x="4356700" y="488625"/>
            <a:ext cx="1812173" cy="46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73650" y="129000"/>
            <a:ext cx="3948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Activity Diagram</a:t>
            </a:r>
            <a:endParaRPr b="1" sz="3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83147" l="8860" r="69651" t="10130"/>
          <a:stretch/>
        </p:blipFill>
        <p:spPr>
          <a:xfrm>
            <a:off x="4356700" y="70450"/>
            <a:ext cx="1812173" cy="48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6622" l="0" r="0" t="12817"/>
          <a:stretch/>
        </p:blipFill>
        <p:spPr>
          <a:xfrm>
            <a:off x="3779258" y="0"/>
            <a:ext cx="362986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73650" y="129000"/>
            <a:ext cx="3948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Activity Diagram</a:t>
            </a:r>
            <a:endParaRPr b="1" sz="3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544325" y="1819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Block Diagram</a:t>
            </a:r>
            <a:endParaRPr b="1" sz="36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3825765" y="3865076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Topics extraction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3825775" y="2222815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Sentence splitting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826068" y="30209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POS Tagging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208775" y="1378565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Shortlisting topics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6208768" y="2209565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Capturing interrelations</a:t>
            </a:r>
            <a:endParaRPr>
              <a:solidFill>
                <a:srgbClr val="1A1A1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6208765" y="306200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Sentiment Classification</a:t>
            </a:r>
            <a:endParaRPr>
              <a:solidFill>
                <a:srgbClr val="1A1A1A"/>
              </a:solidFill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6208765" y="3865064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>
              <a:solidFill>
                <a:srgbClr val="1A1A1A"/>
              </a:solidFill>
            </a:endParaRPr>
          </a:p>
        </p:txBody>
      </p:sp>
      <p:cxnSp>
        <p:nvCxnSpPr>
          <p:cNvPr id="160" name="Google Shape;160;p24"/>
          <p:cNvCxnSpPr>
            <a:stCxn id="161" idx="2"/>
            <a:endCxn id="154" idx="0"/>
          </p:cNvCxnSpPr>
          <p:nvPr/>
        </p:nvCxnSpPr>
        <p:spPr>
          <a:xfrm>
            <a:off x="4571997" y="1762351"/>
            <a:ext cx="22800" cy="4605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4"/>
          <p:cNvCxnSpPr>
            <a:stCxn id="154" idx="2"/>
            <a:endCxn id="155" idx="0"/>
          </p:cNvCxnSpPr>
          <p:nvPr/>
        </p:nvCxnSpPr>
        <p:spPr>
          <a:xfrm>
            <a:off x="4594825" y="2665315"/>
            <a:ext cx="300" cy="3555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4"/>
          <p:cNvCxnSpPr>
            <a:stCxn id="155" idx="2"/>
            <a:endCxn id="153" idx="0"/>
          </p:cNvCxnSpPr>
          <p:nvPr/>
        </p:nvCxnSpPr>
        <p:spPr>
          <a:xfrm flipH="1">
            <a:off x="4594818" y="3463453"/>
            <a:ext cx="300" cy="4017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4"/>
          <p:cNvCxnSpPr>
            <a:stCxn id="153" idx="2"/>
            <a:endCxn id="156" idx="1"/>
          </p:cNvCxnSpPr>
          <p:nvPr/>
        </p:nvCxnSpPr>
        <p:spPr>
          <a:xfrm rot="-5400000">
            <a:off x="4047915" y="2146676"/>
            <a:ext cx="2707800" cy="1614000"/>
          </a:xfrm>
          <a:prstGeom prst="bentConnector4">
            <a:avLst>
              <a:gd fmla="val -8794" name="adj1"/>
              <a:gd fmla="val 73823" name="adj2"/>
            </a:avLst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4"/>
          <p:cNvCxnSpPr>
            <a:stCxn id="157" idx="2"/>
            <a:endCxn id="158" idx="0"/>
          </p:cNvCxnSpPr>
          <p:nvPr/>
        </p:nvCxnSpPr>
        <p:spPr>
          <a:xfrm>
            <a:off x="6977818" y="2652065"/>
            <a:ext cx="0" cy="4098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4"/>
          <p:cNvCxnSpPr>
            <a:stCxn id="158" idx="2"/>
            <a:endCxn id="159" idx="0"/>
          </p:cNvCxnSpPr>
          <p:nvPr/>
        </p:nvCxnSpPr>
        <p:spPr>
          <a:xfrm>
            <a:off x="6977815" y="3504501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4"/>
          <p:cNvCxnSpPr>
            <a:stCxn id="156" idx="2"/>
            <a:endCxn id="157" idx="0"/>
          </p:cNvCxnSpPr>
          <p:nvPr/>
        </p:nvCxnSpPr>
        <p:spPr>
          <a:xfrm>
            <a:off x="6977825" y="1821065"/>
            <a:ext cx="0" cy="3885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4"/>
          <p:cNvSpPr/>
          <p:nvPr/>
        </p:nvSpPr>
        <p:spPr>
          <a:xfrm>
            <a:off x="3802947" y="13198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Review data</a:t>
            </a:r>
            <a:endParaRPr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1297500" y="393750"/>
            <a:ext cx="7038900" cy="5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Plan</a:t>
            </a:r>
            <a:endParaRPr/>
          </a:p>
        </p:txBody>
      </p:sp>
      <p:sp>
        <p:nvSpPr>
          <p:cNvPr id="173" name="Google Shape;173;p25"/>
          <p:cNvSpPr txBox="1"/>
          <p:nvPr>
            <p:ph idx="2" type="body"/>
          </p:nvPr>
        </p:nvSpPr>
        <p:spPr>
          <a:xfrm>
            <a:off x="4744150" y="1064163"/>
            <a:ext cx="3546900" cy="11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Analyzing reviews using NLP(natural language processing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25"/>
          <p:cNvGrpSpPr/>
          <p:nvPr/>
        </p:nvGrpSpPr>
        <p:grpSpPr>
          <a:xfrm>
            <a:off x="5735304" y="2321050"/>
            <a:ext cx="3305700" cy="3483050"/>
            <a:chOff x="5632317" y="1189775"/>
            <a:chExt cx="3305700" cy="3483050"/>
          </a:xfrm>
        </p:grpSpPr>
        <p:sp>
          <p:nvSpPr>
            <p:cNvPr id="175" name="Google Shape;175;p25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Sentiment Analysis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25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Detect the opinion or sentiment on each topic.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5"/>
          <p:cNvGrpSpPr/>
          <p:nvPr/>
        </p:nvGrpSpPr>
        <p:grpSpPr>
          <a:xfrm>
            <a:off x="3047192" y="2321050"/>
            <a:ext cx="3305700" cy="3483050"/>
            <a:chOff x="2944204" y="1189775"/>
            <a:chExt cx="3305700" cy="3483050"/>
          </a:xfrm>
        </p:grpSpPr>
        <p:sp>
          <p:nvSpPr>
            <p:cNvPr id="178" name="Google Shape;178;p25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              Capture Interrelations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25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Capture Interrelations between topics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5"/>
          <p:cNvGrpSpPr/>
          <p:nvPr/>
        </p:nvGrpSpPr>
        <p:grpSpPr>
          <a:xfrm>
            <a:off x="261420" y="2321050"/>
            <a:ext cx="3305700" cy="3483050"/>
            <a:chOff x="5632317" y="1189775"/>
            <a:chExt cx="3305700" cy="3483050"/>
          </a:xfrm>
        </p:grpSpPr>
        <p:sp>
          <p:nvSpPr>
            <p:cNvPr id="181" name="Google Shape;181;p25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Topic extraction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25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Getting the topics or features required for the project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idx="2" type="title"/>
          </p:nvPr>
        </p:nvSpPr>
        <p:spPr>
          <a:xfrm>
            <a:off x="784650" y="429315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Pre Processing</a:t>
            </a:r>
            <a:endParaRPr sz="1700"/>
          </a:p>
        </p:txBody>
      </p:sp>
      <p:sp>
        <p:nvSpPr>
          <p:cNvPr id="188" name="Google Shape;188;p26"/>
          <p:cNvSpPr txBox="1"/>
          <p:nvPr>
            <p:ph type="title"/>
          </p:nvPr>
        </p:nvSpPr>
        <p:spPr>
          <a:xfrm>
            <a:off x="1186225" y="1021625"/>
            <a:ext cx="7550700" cy="3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Make text lowercas</a:t>
            </a:r>
            <a:r>
              <a:rPr b="0" lang="en" sz="1700"/>
              <a:t>e</a:t>
            </a:r>
            <a:endParaRPr b="0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Part-of-Speech (POS) Tags</a:t>
            </a:r>
            <a:endParaRPr b="0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Stop Word Removal</a:t>
            </a:r>
            <a:endParaRPr b="0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Remove emoji’s</a:t>
            </a:r>
            <a:endParaRPr b="0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Lemmatization</a:t>
            </a:r>
            <a:endParaRPr b="0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2" type="title"/>
          </p:nvPr>
        </p:nvSpPr>
        <p:spPr>
          <a:xfrm>
            <a:off x="784650" y="429315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Topic Extraction</a:t>
            </a:r>
            <a:endParaRPr sz="1700"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481650" y="2313375"/>
            <a:ext cx="44271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Qualities are mostly nouns and they are described by adjectives.</a:t>
            </a:r>
            <a:endParaRPr b="0" sz="17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-3365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b="0" lang="en" sz="1700"/>
              <a:t>We use this semantic feature of the natural language to extract topics.</a:t>
            </a:r>
            <a:endParaRPr b="0" sz="1700"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098" y="1139988"/>
            <a:ext cx="4123225" cy="3478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Sentiment Analysis</a:t>
            </a:r>
            <a:endParaRPr sz="1300"/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950" y="1898990"/>
            <a:ext cx="4803050" cy="24915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414800" y="1725150"/>
            <a:ext cx="4157100" cy="3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['bottle', 'glass', 'drink', 'champagne', 'beer', 'vodka', 'jar', 'bottles', 'dispenser', 'glasses']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sentiment :  0.7783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['drinks', 'coffee', 'snacks', 'beverages', 'cocktails', 'juice', 'alcohol', 'smoothies', 'drinkers']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sentiment :  0.9612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['shops', 'restaurants', 'shop', 'eateries', 'stalls', 'stores', 'boutiques', 'establishments', 'outlets', 'cafes']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sentiment :  0.9618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784650" y="1598650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 capture the similar words groups we use google’s word2vec embedding.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similarity()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775" y="1036125"/>
            <a:ext cx="199072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>
            <p:ph idx="2" type="title"/>
          </p:nvPr>
        </p:nvSpPr>
        <p:spPr>
          <a:xfrm>
            <a:off x="784650" y="429325"/>
            <a:ext cx="3536700" cy="6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/>
              <a:t>Capturing Interrelations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grpSp>
        <p:nvGrpSpPr>
          <p:cNvPr id="215" name="Google Shape;215;p30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216" name="Google Shape;216;p30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Data Gathering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30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Collecting the review data and giving it as input.</a:t>
              </a:r>
              <a:endPara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30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219" name="Google Shape;219;p30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POS Tagging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" name="Google Shape;220;p30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Parts of speech tagging is useful in analysing the syntactic and semantic meaning of sentence.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" name="Google Shape;221;p30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222" name="Google Shape;222;p30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Topic Extraction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" name="Google Shape;223;p30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Extracting topics or features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" name="Google Shape;224;p30"/>
          <p:cNvGrpSpPr/>
          <p:nvPr/>
        </p:nvGrpSpPr>
        <p:grpSpPr>
          <a:xfrm>
            <a:off x="6882900" y="1189775"/>
            <a:ext cx="2064000" cy="3217850"/>
            <a:chOff x="5195350" y="1189775"/>
            <a:chExt cx="2064000" cy="3217850"/>
          </a:xfrm>
        </p:grpSpPr>
        <p:sp>
          <p:nvSpPr>
            <p:cNvPr id="225" name="Google Shape;225;p30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Sentiment Analysis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" name="Google Shape;226;p30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Detect the opinion of each topic extracted.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Classify them as positive or negative.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7" name="Google Shape;227;p30"/>
          <p:cNvGrpSpPr/>
          <p:nvPr/>
        </p:nvGrpSpPr>
        <p:grpSpPr>
          <a:xfrm>
            <a:off x="5214325" y="1189888"/>
            <a:ext cx="2064000" cy="3217850"/>
            <a:chOff x="6874025" y="1189775"/>
            <a:chExt cx="2064000" cy="3217850"/>
          </a:xfrm>
        </p:grpSpPr>
        <p:sp>
          <p:nvSpPr>
            <p:cNvPr id="228" name="Google Shape;228;p30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Capture Interrelations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" name="Google Shape;229;p30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Capture Interrelations between topics.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Word2vec and cosine similarity.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2541500" y="2063475"/>
            <a:ext cx="42276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OUTPUT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/>
        </p:nvSpPr>
        <p:spPr>
          <a:xfrm>
            <a:off x="1071101" y="621290"/>
            <a:ext cx="3972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Source Sans Pro"/>
                <a:ea typeface="Source Sans Pro"/>
                <a:cs typeface="Source Sans Pro"/>
                <a:sym typeface="Source Sans Pro"/>
              </a:rPr>
              <a:t>Top positive qualities 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2057" t="0"/>
          <a:stretch/>
        </p:blipFill>
        <p:spPr>
          <a:xfrm>
            <a:off x="804850" y="1094700"/>
            <a:ext cx="73793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/>
        </p:nvSpPr>
        <p:spPr>
          <a:xfrm>
            <a:off x="1071101" y="621290"/>
            <a:ext cx="3972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Source Sans Pro"/>
                <a:ea typeface="Source Sans Pro"/>
                <a:cs typeface="Source Sans Pro"/>
                <a:sym typeface="Source Sans Pro"/>
              </a:rPr>
              <a:t>Top negative qualities </a:t>
            </a:r>
            <a:endParaRPr sz="19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325" y="1094690"/>
            <a:ext cx="699135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CAC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/>
        </p:nvSpPr>
        <p:spPr>
          <a:xfrm>
            <a:off x="1071101" y="621290"/>
            <a:ext cx="397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Source Sans Pro"/>
                <a:ea typeface="Source Sans Pro"/>
                <a:cs typeface="Source Sans Pro"/>
                <a:sym typeface="Source Sans Pro"/>
              </a:rPr>
              <a:t>Future Scope</a:t>
            </a:r>
            <a:endParaRPr sz="2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784650" y="1598650"/>
            <a:ext cx="31590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Use API for data collection.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Webapp with live data.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cxnSp>
        <p:nvCxnSpPr>
          <p:cNvPr id="258" name="Google Shape;258;p35"/>
          <p:cNvCxnSpPr/>
          <p:nvPr/>
        </p:nvCxnSpPr>
        <p:spPr>
          <a:xfrm flipH="1" rot="10800000">
            <a:off x="311700" y="2776916"/>
            <a:ext cx="8759700" cy="1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59" name="Google Shape;259;p35"/>
          <p:cNvGrpSpPr/>
          <p:nvPr/>
        </p:nvGrpSpPr>
        <p:grpSpPr>
          <a:xfrm>
            <a:off x="506812" y="1581271"/>
            <a:ext cx="143932" cy="1306800"/>
            <a:chOff x="648675" y="1657471"/>
            <a:chExt cx="196200" cy="1306800"/>
          </a:xfrm>
        </p:grpSpPr>
        <p:sp>
          <p:nvSpPr>
            <p:cNvPr id="260" name="Google Shape;260;p35"/>
            <p:cNvSpPr/>
            <p:nvPr/>
          </p:nvSpPr>
          <p:spPr>
            <a:xfrm>
              <a:off x="6486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35"/>
            <p:cNvCxnSpPr>
              <a:stCxn id="260" idx="0"/>
            </p:cNvCxnSpPr>
            <p:nvPr/>
          </p:nvCxnSpPr>
          <p:spPr>
            <a:xfrm rot="10800000">
              <a:off x="746775" y="1657471"/>
              <a:ext cx="0" cy="11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262" name="Google Shape;262;p35"/>
          <p:cNvSpPr txBox="1"/>
          <p:nvPr>
            <p:ph idx="4294967295" type="body"/>
          </p:nvPr>
        </p:nvSpPr>
        <p:spPr>
          <a:xfrm>
            <a:off x="635424" y="1299975"/>
            <a:ext cx="19533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collection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2nd half February</a:t>
            </a:r>
            <a:endParaRPr sz="1400"/>
          </a:p>
        </p:txBody>
      </p:sp>
      <p:grpSp>
        <p:nvGrpSpPr>
          <p:cNvPr id="263" name="Google Shape;263;p35"/>
          <p:cNvGrpSpPr/>
          <p:nvPr/>
        </p:nvGrpSpPr>
        <p:grpSpPr>
          <a:xfrm>
            <a:off x="1874426" y="2692171"/>
            <a:ext cx="143932" cy="1404905"/>
            <a:chOff x="2512925" y="2768371"/>
            <a:chExt cx="196200" cy="1404905"/>
          </a:xfrm>
        </p:grpSpPr>
        <p:cxnSp>
          <p:nvCxnSpPr>
            <p:cNvPr id="264" name="Google Shape;264;p35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65" name="Google Shape;265;p35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35"/>
          <p:cNvSpPr txBox="1"/>
          <p:nvPr>
            <p:ph idx="4294967295" type="body"/>
          </p:nvPr>
        </p:nvSpPr>
        <p:spPr>
          <a:xfrm>
            <a:off x="2007085" y="3854675"/>
            <a:ext cx="19533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Preprocessing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1st half March</a:t>
            </a:r>
            <a:endParaRPr sz="1400"/>
          </a:p>
        </p:txBody>
      </p:sp>
      <p:grpSp>
        <p:nvGrpSpPr>
          <p:cNvPr id="267" name="Google Shape;267;p35"/>
          <p:cNvGrpSpPr/>
          <p:nvPr/>
        </p:nvGrpSpPr>
        <p:grpSpPr>
          <a:xfrm>
            <a:off x="3170166" y="1483171"/>
            <a:ext cx="143932" cy="1404900"/>
            <a:chOff x="4279200" y="1559371"/>
            <a:chExt cx="196200" cy="1404900"/>
          </a:xfrm>
        </p:grpSpPr>
        <p:cxnSp>
          <p:nvCxnSpPr>
            <p:cNvPr id="268" name="Google Shape;268;p35"/>
            <p:cNvCxnSpPr>
              <a:stCxn id="269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69" name="Google Shape;269;p35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35"/>
          <p:cNvSpPr txBox="1"/>
          <p:nvPr>
            <p:ph idx="4294967295" type="body"/>
          </p:nvPr>
        </p:nvSpPr>
        <p:spPr>
          <a:xfrm>
            <a:off x="3299465" y="1299975"/>
            <a:ext cx="19533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Topic Extraction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2nd half March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35"/>
          <p:cNvGrpSpPr/>
          <p:nvPr/>
        </p:nvGrpSpPr>
        <p:grpSpPr>
          <a:xfrm>
            <a:off x="4465905" y="2692171"/>
            <a:ext cx="143932" cy="1404905"/>
            <a:chOff x="6045475" y="2768371"/>
            <a:chExt cx="196200" cy="1404905"/>
          </a:xfrm>
        </p:grpSpPr>
        <p:cxnSp>
          <p:nvCxnSpPr>
            <p:cNvPr id="272" name="Google Shape;272;p35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3" name="Google Shape;273;p35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5"/>
          <p:cNvSpPr txBox="1"/>
          <p:nvPr>
            <p:ph idx="4294967295" type="body"/>
          </p:nvPr>
        </p:nvSpPr>
        <p:spPr>
          <a:xfrm>
            <a:off x="4599162" y="3854675"/>
            <a:ext cx="19533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Shortlisting Topics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1st half April</a:t>
            </a:r>
            <a:endParaRPr sz="1400"/>
          </a:p>
        </p:txBody>
      </p:sp>
      <p:grpSp>
        <p:nvGrpSpPr>
          <p:cNvPr id="275" name="Google Shape;275;p35"/>
          <p:cNvGrpSpPr/>
          <p:nvPr/>
        </p:nvGrpSpPr>
        <p:grpSpPr>
          <a:xfrm>
            <a:off x="5761615" y="1483171"/>
            <a:ext cx="143932" cy="1404900"/>
            <a:chOff x="4279200" y="1559371"/>
            <a:chExt cx="196200" cy="1404900"/>
          </a:xfrm>
        </p:grpSpPr>
        <p:cxnSp>
          <p:nvCxnSpPr>
            <p:cNvPr id="276" name="Google Shape;276;p35"/>
            <p:cNvCxnSpPr>
              <a:stCxn id="277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7" name="Google Shape;277;p35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35"/>
          <p:cNvSpPr txBox="1"/>
          <p:nvPr>
            <p:ph idx="4294967295" type="body"/>
          </p:nvPr>
        </p:nvSpPr>
        <p:spPr>
          <a:xfrm>
            <a:off x="5890913" y="1299975"/>
            <a:ext cx="22839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Sentiment Analysis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2nd half April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35"/>
          <p:cNvGrpSpPr/>
          <p:nvPr/>
        </p:nvGrpSpPr>
        <p:grpSpPr>
          <a:xfrm>
            <a:off x="7057355" y="2692171"/>
            <a:ext cx="143932" cy="1404905"/>
            <a:chOff x="6045475" y="2768371"/>
            <a:chExt cx="196200" cy="1404905"/>
          </a:xfrm>
        </p:grpSpPr>
        <p:cxnSp>
          <p:nvCxnSpPr>
            <p:cNvPr id="280" name="Google Shape;280;p35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81" name="Google Shape;281;p35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35"/>
          <p:cNvSpPr txBox="1"/>
          <p:nvPr>
            <p:ph idx="4294967295" type="body"/>
          </p:nvPr>
        </p:nvSpPr>
        <p:spPr>
          <a:xfrm>
            <a:off x="7190612" y="3854675"/>
            <a:ext cx="19533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Final Output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1st half May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/>
        </p:nvSpPr>
        <p:spPr>
          <a:xfrm>
            <a:off x="914400" y="942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4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  <a:endParaRPr b="1" sz="364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914400" y="1233225"/>
            <a:ext cx="76887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lot of studies in feature extraction, POS tagging and analysing text.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projects are done on finding specific phrases , here , positive (what are the best things ) and negative qualities (what are the things to improve ) of a place.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combining and using existing NLP techniques such as topic modelling POS tagging,,word2Vec, sentiment analysis etc , this can be achieved.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/>
        </p:nvSpPr>
        <p:spPr>
          <a:xfrm>
            <a:off x="914400" y="942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4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Reference</a:t>
            </a:r>
            <a:endParaRPr b="1" sz="364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914400" y="1233225"/>
            <a:ext cx="76887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[1] Z. Rui and H. Yutai, ”Research on Short Text Classification Based on Word2Vec Microblog,” 2020 International Conference on Computer Science and Management Technology (ICCSMT), Shanghai, China, 2020, pp. 178-182, doi: 10.1109/ICCSMT51754.2020.00042.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496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[2] Gottipati S, Shankararaman V, Lin JR. Text analytics approach to extract course improvement suggestions from students’ feedback. Research and Practice in Technology Enhanced Learning. 2018 ;13(1):6. DOI: 10.1186/s41039-018-0073- 0. PMID: 30595737; PMCID: PMC6294207.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496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"/>
              <a:buChar char="●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[3]M. R. Hasan, M. Maliha and M. Arifuzzaman, ”Sentiment Analysis with NLP on Twitter Data,” 2019 International Conference on Computer, Communication, Chemical, Materials and Electronic Engineering (IC4ME2), Rajshahi, Bangladesh, 2019, pp. 1-4, doi: 10.1109/IC4ME247184.2019.9036670. 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Thanks </a:t>
            </a:r>
            <a:endParaRPr sz="3600"/>
          </a:p>
        </p:txBody>
      </p:sp>
      <p:pic>
        <p:nvPicPr>
          <p:cNvPr id="300" name="Google Shape;300;p38" title="Upward shot of Golden Gate Bridge against blue sky"/>
          <p:cNvPicPr preferRelativeResize="0"/>
          <p:nvPr/>
        </p:nvPicPr>
        <p:blipFill rotWithShape="1">
          <a:blip r:embed="rId3">
            <a:alphaModFix/>
          </a:blip>
          <a:srcRect b="0" l="19072" r="4854" t="10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